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" userId="6d9ad1a11c5f7819" providerId="LiveId" clId="{F505996B-F3E8-41D2-8E53-E8E041FD0622}"/>
    <pc:docChg chg="custSel modSld">
      <pc:chgData name="A S" userId="6d9ad1a11c5f7819" providerId="LiveId" clId="{F505996B-F3E8-41D2-8E53-E8E041FD0622}" dt="2026-07-31T21:48:26.872" v="24" actId="122"/>
      <pc:docMkLst>
        <pc:docMk/>
      </pc:docMkLst>
      <pc:sldChg chg="modSp mod">
        <pc:chgData name="A S" userId="6d9ad1a11c5f7819" providerId="LiveId" clId="{F505996B-F3E8-41D2-8E53-E8E041FD0622}" dt="2026-07-31T21:46:43.016" v="2" actId="20577"/>
        <pc:sldMkLst>
          <pc:docMk/>
          <pc:sldMk cId="0" sldId="256"/>
        </pc:sldMkLst>
        <pc:spChg chg="mod">
          <ac:chgData name="A S" userId="6d9ad1a11c5f7819" providerId="LiveId" clId="{F505996B-F3E8-41D2-8E53-E8E041FD0622}" dt="2026-07-31T21:46:43.016" v="2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7:02.966" v="6" actId="27636"/>
        <pc:sldMkLst>
          <pc:docMk/>
          <pc:sldMk cId="0" sldId="257"/>
        </pc:sldMkLst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8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9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 S" userId="6d9ad1a11c5f7819" providerId="LiveId" clId="{F505996B-F3E8-41D2-8E53-E8E041FD0622}" dt="2026-07-31T21:46:51.578" v="3" actId="12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 S" userId="6d9ad1a11c5f7819" providerId="LiveId" clId="{F505996B-F3E8-41D2-8E53-E8E041FD0622}" dt="2026-07-31T21:47:02.964" v="5" actId="12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 S" userId="6d9ad1a11c5f7819" providerId="LiveId" clId="{F505996B-F3E8-41D2-8E53-E8E041FD0622}" dt="2026-07-31T21:47:02.966" v="6" actId="2763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31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33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36" creationId="{00000000-0000-0000-0000-000000000000}"/>
          </ac:spMkLst>
        </pc:spChg>
        <pc:spChg chg="mod">
          <ac:chgData name="A S" userId="6d9ad1a11c5f7819" providerId="LiveId" clId="{F505996B-F3E8-41D2-8E53-E8E041FD0622}" dt="2026-07-31T21:46:57.836" v="4" actId="122"/>
          <ac:spMkLst>
            <pc:docMk/>
            <pc:sldMk cId="0" sldId="257"/>
            <ac:spMk id="37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7:18.291" v="10" actId="27636"/>
        <pc:sldMkLst>
          <pc:docMk/>
          <pc:sldMk cId="0" sldId="258"/>
        </pc:sldMkLst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5" creationId="{00000000-0000-0000-0000-000000000000}"/>
          </ac:spMkLst>
        </pc:spChg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6" creationId="{00000000-0000-0000-0000-000000000000}"/>
          </ac:spMkLst>
        </pc:spChg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8" creationId="{00000000-0000-0000-0000-000000000000}"/>
          </ac:spMkLst>
        </pc:spChg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9" creationId="{00000000-0000-0000-0000-000000000000}"/>
          </ac:spMkLst>
        </pc:spChg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 S" userId="6d9ad1a11c5f7819" providerId="LiveId" clId="{F505996B-F3E8-41D2-8E53-E8E041FD0622}" dt="2026-07-31T21:47:09.678" v="7" actId="122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 S" userId="6d9ad1a11c5f7819" providerId="LiveId" clId="{F505996B-F3E8-41D2-8E53-E8E041FD0622}" dt="2026-07-31T21:47:15.685" v="8" actId="12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 S" userId="6d9ad1a11c5f7819" providerId="LiveId" clId="{F505996B-F3E8-41D2-8E53-E8E041FD0622}" dt="2026-07-31T21:47:18.287" v="9" actId="12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 S" userId="6d9ad1a11c5f7819" providerId="LiveId" clId="{F505996B-F3E8-41D2-8E53-E8E041FD0622}" dt="2026-07-31T21:47:18.291" v="10" actId="27636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7:25.569" v="11" actId="122"/>
        <pc:sldMkLst>
          <pc:docMk/>
          <pc:sldMk cId="0" sldId="259"/>
        </pc:sldMkLst>
        <pc:spChg chg="mod">
          <ac:chgData name="A S" userId="6d9ad1a11c5f7819" providerId="LiveId" clId="{F505996B-F3E8-41D2-8E53-E8E041FD0622}" dt="2026-07-31T21:47:25.569" v="11" actId="122"/>
          <ac:spMkLst>
            <pc:docMk/>
            <pc:sldMk cId="0" sldId="259"/>
            <ac:spMk id="41" creationId="{00000000-0000-0000-0000-000000000000}"/>
          </ac:spMkLst>
        </pc:spChg>
        <pc:spChg chg="mod">
          <ac:chgData name="A S" userId="6d9ad1a11c5f7819" providerId="LiveId" clId="{F505996B-F3E8-41D2-8E53-E8E041FD0622}" dt="2026-07-31T21:47:25.569" v="11" actId="122"/>
          <ac:spMkLst>
            <pc:docMk/>
            <pc:sldMk cId="0" sldId="259"/>
            <ac:spMk id="42" creationId="{00000000-0000-0000-0000-000000000000}"/>
          </ac:spMkLst>
        </pc:spChg>
        <pc:spChg chg="mod">
          <ac:chgData name="A S" userId="6d9ad1a11c5f7819" providerId="LiveId" clId="{F505996B-F3E8-41D2-8E53-E8E041FD0622}" dt="2026-07-31T21:47:25.569" v="11" actId="122"/>
          <ac:spMkLst>
            <pc:docMk/>
            <pc:sldMk cId="0" sldId="259"/>
            <ac:spMk id="43" creationId="{00000000-0000-0000-0000-000000000000}"/>
          </ac:spMkLst>
        </pc:spChg>
        <pc:spChg chg="mod">
          <ac:chgData name="A S" userId="6d9ad1a11c5f7819" providerId="LiveId" clId="{F505996B-F3E8-41D2-8E53-E8E041FD0622}" dt="2026-07-31T21:47:25.569" v="11" actId="122"/>
          <ac:spMkLst>
            <pc:docMk/>
            <pc:sldMk cId="0" sldId="259"/>
            <ac:spMk id="44" creationId="{00000000-0000-0000-0000-000000000000}"/>
          </ac:spMkLst>
        </pc:spChg>
        <pc:spChg chg="mod">
          <ac:chgData name="A S" userId="6d9ad1a11c5f7819" providerId="LiveId" clId="{F505996B-F3E8-41D2-8E53-E8E041FD0622}" dt="2026-07-31T21:47:25.569" v="11" actId="122"/>
          <ac:spMkLst>
            <pc:docMk/>
            <pc:sldMk cId="0" sldId="259"/>
            <ac:spMk id="45" creationId="{00000000-0000-0000-0000-000000000000}"/>
          </ac:spMkLst>
        </pc:spChg>
        <pc:spChg chg="mod">
          <ac:chgData name="A S" userId="6d9ad1a11c5f7819" providerId="LiveId" clId="{F505996B-F3E8-41D2-8E53-E8E041FD0622}" dt="2026-07-31T21:47:25.569" v="11" actId="122"/>
          <ac:spMkLst>
            <pc:docMk/>
            <pc:sldMk cId="0" sldId="259"/>
            <ac:spMk id="46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7:37.521" v="12" actId="122"/>
        <pc:sldMkLst>
          <pc:docMk/>
          <pc:sldMk cId="0" sldId="260"/>
        </pc:sldMkLst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38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41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42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44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46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47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48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50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52" creationId="{00000000-0000-0000-0000-000000000000}"/>
          </ac:spMkLst>
        </pc:spChg>
        <pc:spChg chg="mod">
          <ac:chgData name="A S" userId="6d9ad1a11c5f7819" providerId="LiveId" clId="{F505996B-F3E8-41D2-8E53-E8E041FD0622}" dt="2026-07-31T21:47:37.521" v="12" actId="122"/>
          <ac:spMkLst>
            <pc:docMk/>
            <pc:sldMk cId="0" sldId="260"/>
            <ac:spMk id="57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7:59.952" v="17" actId="122"/>
        <pc:sldMkLst>
          <pc:docMk/>
          <pc:sldMk cId="0" sldId="261"/>
        </pc:sldMkLst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5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6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7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8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9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 S" userId="6d9ad1a11c5f7819" providerId="LiveId" clId="{F505996B-F3E8-41D2-8E53-E8E041FD0622}" dt="2026-07-31T21:47:46.010" v="13" actId="122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 S" userId="6d9ad1a11c5f7819" providerId="LiveId" clId="{F505996B-F3E8-41D2-8E53-E8E041FD0622}" dt="2026-07-31T21:47:48.538" v="15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23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26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33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35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38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39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40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43" creationId="{00000000-0000-0000-0000-000000000000}"/>
          </ac:spMkLst>
        </pc:spChg>
        <pc:spChg chg="mod">
          <ac:chgData name="A S" userId="6d9ad1a11c5f7819" providerId="LiveId" clId="{F505996B-F3E8-41D2-8E53-E8E041FD0622}" dt="2026-07-31T21:47:59.952" v="17" actId="122"/>
          <ac:spMkLst>
            <pc:docMk/>
            <pc:sldMk cId="0" sldId="261"/>
            <ac:spMk id="44" creationId="{00000000-0000-0000-0000-000000000000}"/>
          </ac:spMkLst>
        </pc:spChg>
        <pc:spChg chg="mod">
          <ac:chgData name="A S" userId="6d9ad1a11c5f7819" providerId="LiveId" clId="{F505996B-F3E8-41D2-8E53-E8E041FD0622}" dt="2026-07-31T21:47:52.704" v="16" actId="122"/>
          <ac:spMkLst>
            <pc:docMk/>
            <pc:sldMk cId="0" sldId="261"/>
            <ac:spMk id="50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8:09.658" v="19" actId="122"/>
        <pc:sldMkLst>
          <pc:docMk/>
          <pc:sldMk cId="0" sldId="262"/>
        </pc:sldMkLst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26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28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30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37" creationId="{00000000-0000-0000-0000-000000000000}"/>
          </ac:spMkLst>
        </pc:spChg>
        <pc:spChg chg="mod">
          <ac:chgData name="A S" userId="6d9ad1a11c5f7819" providerId="LiveId" clId="{F505996B-F3E8-41D2-8E53-E8E041FD0622}" dt="2026-07-31T21:48:07.344" v="18" actId="122"/>
          <ac:spMkLst>
            <pc:docMk/>
            <pc:sldMk cId="0" sldId="262"/>
            <ac:spMk id="48" creationId="{00000000-0000-0000-0000-000000000000}"/>
          </ac:spMkLst>
        </pc:spChg>
        <pc:spChg chg="mod">
          <ac:chgData name="A S" userId="6d9ad1a11c5f7819" providerId="LiveId" clId="{F505996B-F3E8-41D2-8E53-E8E041FD0622}" dt="2026-07-31T21:48:09.658" v="19" actId="122"/>
          <ac:spMkLst>
            <pc:docMk/>
            <pc:sldMk cId="0" sldId="262"/>
            <ac:spMk id="51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8:17.209" v="21" actId="122"/>
        <pc:sldMkLst>
          <pc:docMk/>
          <pc:sldMk cId="0" sldId="263"/>
        </pc:sldMkLst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22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26" creationId="{00000000-0000-0000-0000-000000000000}"/>
          </ac:spMkLst>
        </pc:spChg>
        <pc:spChg chg="mod">
          <ac:chgData name="A S" userId="6d9ad1a11c5f7819" providerId="LiveId" clId="{F505996B-F3E8-41D2-8E53-E8E041FD0622}" dt="2026-07-31T21:48:13.713" v="20" actId="122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 S" userId="6d9ad1a11c5f7819" providerId="LiveId" clId="{F505996B-F3E8-41D2-8E53-E8E041FD0622}" dt="2026-07-31T21:48:17.209" v="21" actId="122"/>
          <ac:spMkLst>
            <pc:docMk/>
            <pc:sldMk cId="0" sldId="263"/>
            <ac:spMk id="30" creationId="{00000000-0000-0000-0000-000000000000}"/>
          </ac:spMkLst>
        </pc:spChg>
      </pc:sldChg>
      <pc:sldChg chg="modSp mod">
        <pc:chgData name="A S" userId="6d9ad1a11c5f7819" providerId="LiveId" clId="{F505996B-F3E8-41D2-8E53-E8E041FD0622}" dt="2026-07-31T21:48:26.872" v="24" actId="122"/>
        <pc:sldMkLst>
          <pc:docMk/>
          <pc:sldMk cId="0" sldId="264"/>
        </pc:sldMkLst>
        <pc:spChg chg="mod">
          <ac:chgData name="A S" userId="6d9ad1a11c5f7819" providerId="LiveId" clId="{F505996B-F3E8-41D2-8E53-E8E041FD0622}" dt="2026-07-31T21:48:22.656" v="22" actId="122"/>
          <ac:spMkLst>
            <pc:docMk/>
            <pc:sldMk cId="0" sldId="264"/>
            <ac:spMk id="5" creationId="{00000000-0000-0000-0000-000000000000}"/>
          </ac:spMkLst>
        </pc:spChg>
        <pc:spChg chg="mod">
          <ac:chgData name="A S" userId="6d9ad1a11c5f7819" providerId="LiveId" clId="{F505996B-F3E8-41D2-8E53-E8E041FD0622}" dt="2026-07-31T21:48:24.916" v="23" actId="122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 S" userId="6d9ad1a11c5f7819" providerId="LiveId" clId="{F505996B-F3E8-41D2-8E53-E8E041FD0622}" dt="2026-07-31T21:48:26.872" v="24" actId="122"/>
          <ac:spMkLst>
            <pc:docMk/>
            <pc:sldMk cId="0" sldId="264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8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</a:rPr>
              <a:t>PayPal Capital Allocation 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2852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Should PayPal prioritize share repurchases, debt reduction, a strategic acquisition, or greater investment in Venmo and branded checkout?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370332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CDE"/>
                </a:solidFill>
              </a:rPr>
              <a:t>Investment-banking pitch | Q1 2026 data cutoff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46177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Recommendation: prioritize Venmo + branded checkout investment, with disciplined buybacks as the secondary use of FCF.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Company filings, Q1 2026 earnings materials, public market data.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Executive summary and recommendation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087"/>
                </a:solidFill>
              </a:rPr>
              <a:t>$8.4B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563624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1Q26 revenue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651760" y="1234440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087"/>
                </a:solidFill>
              </a:rPr>
              <a:t>$464B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651760" y="1563624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1Q26 TPV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709160" y="1234440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9CDE"/>
                </a:solidFill>
              </a:rPr>
              <a:t>439M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09160" y="1563624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Active accounts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766560" y="1234440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8F5A"/>
                </a:solidFill>
              </a:rPr>
              <a:t>$6.0B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66560" y="1563624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TTM buybacks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8823960" y="1234440"/>
            <a:ext cx="256032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</a:rPr>
              <a:t>$13.5B / $11.6B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23960" y="1563624"/>
            <a:ext cx="256032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Cash / debt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94360" y="2377440"/>
            <a:ext cx="2011680" cy="237744"/>
          </a:xfrm>
          <a:prstGeom prst="rect">
            <a:avLst/>
          </a:prstGeom>
          <a:solidFill>
            <a:srgbClr val="0B8F5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Primary recommendation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4360" y="2788920"/>
            <a:ext cx="5212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Invest behind Venmo and branded checkout to improve consumer engagement, merchant conversion, and branded checkout growth.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3611880"/>
            <a:ext cx="52120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Use repurchases opportunistically while DCF and peer multiple discount persist.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Maintain debt flexibility but do not over-prioritize low-return deleveraging.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Avoid transformational M&amp;A; pursue tuck-ins only with clear product acceleration.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1417320" cy="237744"/>
          </a:xfrm>
          <a:prstGeom prst="rect">
            <a:avLst/>
          </a:prstGeom>
          <a:solidFill>
            <a:srgbClr val="003087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Decision logic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7658" y="2795778"/>
            <a:ext cx="1255014" cy="416052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Option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76388" y="2795778"/>
            <a:ext cx="1255014" cy="416052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Financial case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118" y="2795778"/>
            <a:ext cx="1255014" cy="416052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Strategic case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13848" y="2795778"/>
            <a:ext cx="1255014" cy="416052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Priority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7658" y="3225546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Venmo + checkout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76388" y="3225546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Near-term EPS drag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118" y="3225546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Highest growth / multiple lever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213848" y="3225546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7658" y="3655314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Repurchases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76388" y="3655314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Immediate EPS support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45118" y="3655314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Does not fix growth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213848" y="3655314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7658" y="4085082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Debt reduction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676388" y="4085082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Risk reduction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945118" y="4085082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Limited upside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213848" y="4085082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07658" y="4514850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Acquisition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76388" y="4514850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Potential synergies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945118" y="4514850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High integration risk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213848" y="4514850"/>
            <a:ext cx="1255014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PayPal filings / company earnings materials; public market data as of Jul. 27, 2026.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Company and industry overview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1920240" cy="237744"/>
          </a:xfrm>
          <a:prstGeom prst="rect">
            <a:avLst/>
          </a:prstGeom>
          <a:solidFill>
            <a:srgbClr val="003087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PayPal operating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246120" cy="320040"/>
          </a:xfrm>
          <a:prstGeom prst="rect">
            <a:avLst/>
          </a:prstGeom>
          <a:solidFill>
            <a:srgbClr val="EFF6FF"/>
          </a:solidFill>
          <a:ln>
            <a:solidFill>
              <a:srgbClr val="D0D7D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Branded checkout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3246120" cy="713232"/>
          </a:xfrm>
          <a:prstGeom prst="rect">
            <a:avLst/>
          </a:prstGeom>
          <a:solidFill>
            <a:srgbClr val="EFF6FF"/>
          </a:solidFill>
          <a:ln>
            <a:solidFill>
              <a:srgbClr val="D0D7D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7"/>
                </a:solidFill>
              </a:rPr>
              <a:t>Consumer wallet, guest checkout, merchant conversion, rewards and passkeys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4389120" y="1627632"/>
            <a:ext cx="3246120" cy="320040"/>
          </a:xfrm>
          <a:prstGeom prst="rect">
            <a:avLst/>
          </a:prstGeom>
          <a:solidFill>
            <a:srgbClr val="ECFEFF"/>
          </a:solidFill>
          <a:ln>
            <a:solidFill>
              <a:srgbClr val="D0D7D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Venmo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993392"/>
            <a:ext cx="3246120" cy="713232"/>
          </a:xfrm>
          <a:prstGeom prst="rect">
            <a:avLst/>
          </a:prstGeom>
          <a:solidFill>
            <a:srgbClr val="ECFEFF"/>
          </a:solidFill>
          <a:ln>
            <a:solidFill>
              <a:srgbClr val="D0D7D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7"/>
                </a:solidFill>
              </a:rPr>
              <a:t>P2P network, debit/credit, commerce use cases, monetization runway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8138160" y="1627632"/>
            <a:ext cx="3246120" cy="320040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</a:rPr>
              <a:t>PSP / Braintree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1993392"/>
            <a:ext cx="324612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F2937"/>
                </a:solidFill>
              </a:rPr>
              <a:t>Enterprise processing, unbranded TPV scale, lower-margin volume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2971800" cy="237744"/>
          </a:xfrm>
          <a:prstGeom prst="rect">
            <a:avLst/>
          </a:prstGeom>
          <a:solidFill>
            <a:srgbClr val="009CD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Industry themes affecting capital allocation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53492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F2937"/>
                </a:solidFill>
              </a:rPr>
              <a:t>Consumer payments are shifting toward embedded wallets, mobile checkout, rewards, and authentication.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F2937"/>
                </a:solidFill>
              </a:rPr>
              <a:t>Merchant pressure keeps take rates competitive; scale alone is less valuable without differentiated checkout.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1F2937"/>
                </a:solidFill>
              </a:rPr>
              <a:t>Investors reward durable branded growth and cash conversion more than financial engineering alone.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446520" y="3337560"/>
            <a:ext cx="1325880" cy="237744"/>
          </a:xfrm>
          <a:prstGeom prst="rect">
            <a:avLst/>
          </a:prstGeom>
          <a:solidFill>
            <a:srgbClr val="0B8F5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Implication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46520" y="3749040"/>
            <a:ext cx="4663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The best use of incremental capital is the one that improves the growth algorithm and quality of PayPal's revenue base.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4526280"/>
            <a:ext cx="4663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Buybacks can compound value, but only if the core product investment path stabilizes branded checkout and unlocks more Venmo monetization.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PayPal 1Q26 earnings presentation; company filings.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Historical performance and operating drivers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Revenue ($B)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971800"/>
            <a:ext cx="32004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059316"/>
            <a:ext cx="382219" cy="91248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3035808"/>
            <a:ext cx="528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2021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563624" y="1983874"/>
            <a:ext cx="382219" cy="98792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0472" y="3035808"/>
            <a:ext cx="528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258568" y="1901248"/>
            <a:ext cx="382219" cy="10705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85416" y="3035808"/>
            <a:ext cx="528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2023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953512" y="1829399"/>
            <a:ext cx="382219" cy="1142401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3035808"/>
            <a:ext cx="528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2024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648456" y="1779104"/>
            <a:ext cx="382219" cy="119269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75304" y="3035808"/>
            <a:ext cx="528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2025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434840" y="1234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Free cash flow ($B)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971800"/>
            <a:ext cx="283464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112358"/>
            <a:ext cx="341986" cy="85944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0288" y="3035808"/>
            <a:ext cx="4882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2021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5285232" y="2077278"/>
            <a:ext cx="341986" cy="894522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3035808"/>
            <a:ext cx="4882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2022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907024" y="2235135"/>
            <a:ext cx="341986" cy="736665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33872" y="3035808"/>
            <a:ext cx="4882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2023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6528816" y="1779104"/>
            <a:ext cx="341986" cy="1192696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55664" y="3035808"/>
            <a:ext cx="4882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2024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150608" y="1989580"/>
            <a:ext cx="341986" cy="98222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77456" y="3035808"/>
            <a:ext cx="4882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2025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7863840" y="12344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Diluted shares (mm)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01000" y="2971800"/>
            <a:ext cx="30175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092440" y="1779104"/>
            <a:ext cx="362102" cy="1192696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19288" y="3035808"/>
            <a:ext cx="5084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2021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750808" y="1807286"/>
            <a:ext cx="362102" cy="116451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77656" y="3035808"/>
            <a:ext cx="5084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2022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9409176" y="1857611"/>
            <a:ext cx="362102" cy="1114189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36024" y="3035808"/>
            <a:ext cx="5084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2023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0067544" y="1926053"/>
            <a:ext cx="362102" cy="1045747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94392" y="3035808"/>
            <a:ext cx="5084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2024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725912" y="1997514"/>
            <a:ext cx="362102" cy="974286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652760" y="3035808"/>
            <a:ext cx="5084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2025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85800" y="3822192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087"/>
                </a:solidFill>
              </a:rPr>
              <a:t>$1.79T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85800" y="4151376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2025 TPV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2788920" y="3822192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9CDE"/>
                </a:solidFill>
              </a:rPr>
              <a:t>439M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2788920" y="4151376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2025 active accounts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892040" y="3822192"/>
            <a:ext cx="18288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8F5A"/>
                </a:solidFill>
              </a:rPr>
              <a:t>$5.6B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4892040" y="4151376"/>
            <a:ext cx="18288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2025 FCF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85800" y="480060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Revenue has grown steadily, but branded checkout must improve to support a higher-quality growth story.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FCF generation supports buybacks, but capital returns are not a substitute for product-led growth.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1F2937"/>
                </a:solidFill>
              </a:rPr>
              <a:t>Share count fell materially after sustained buybacks, making valuation-sensitive repurchases accretive when the stock is discounted.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PayPal 2025 Form 10-K; PayPal 1Q26 earnings release.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Financial forecast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Base-case revenue ($B)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3291840"/>
            <a:ext cx="44805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161356"/>
            <a:ext cx="435864" cy="113048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3355848"/>
            <a:ext cx="58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2025A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661160" y="2106875"/>
            <a:ext cx="435864" cy="1184965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88008" y="3355848"/>
            <a:ext cx="58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2026E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453640" y="2042178"/>
            <a:ext cx="435864" cy="124966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80488" y="3355848"/>
            <a:ext cx="58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2027E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246120" y="1967267"/>
            <a:ext cx="435864" cy="1324573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3355848"/>
            <a:ext cx="58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2028E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038600" y="1892355"/>
            <a:ext cx="435864" cy="1399485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65448" y="3355848"/>
            <a:ext cx="58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2029E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831080" y="1820849"/>
            <a:ext cx="435864" cy="1470991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7928" y="3355848"/>
            <a:ext cx="58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2030E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715000" y="12344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Operating income ($B)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3291840"/>
            <a:ext cx="39319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2248462"/>
            <a:ext cx="385572" cy="1043378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0448" y="3355848"/>
            <a:ext cx="5318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2025A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644640" y="2214253"/>
            <a:ext cx="385572" cy="1077587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71488" y="3355848"/>
            <a:ext cx="5318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2026E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345680" y="2128731"/>
            <a:ext cx="385572" cy="1163109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72528" y="3355848"/>
            <a:ext cx="5318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2027E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046720" y="2026103"/>
            <a:ext cx="385572" cy="1265737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73568" y="3355848"/>
            <a:ext cx="5318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2028E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747760" y="1923476"/>
            <a:ext cx="385572" cy="1368364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74608" y="3355848"/>
            <a:ext cx="5318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2029E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9448800" y="1820849"/>
            <a:ext cx="385572" cy="1470991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75648" y="3355848"/>
            <a:ext cx="5318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2030E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92658" y="4075938"/>
            <a:ext cx="1046988" cy="269748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Metric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753362" y="4075938"/>
            <a:ext cx="1046988" cy="269748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2025A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2814066" y="4075938"/>
            <a:ext cx="1046988" cy="269748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2026E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874770" y="4075938"/>
            <a:ext cx="1046988" cy="269748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2028E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935474" y="4075938"/>
            <a:ext cx="1046988" cy="269748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2030E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92658" y="4359402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Revenue growth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753362" y="4359402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4.3%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2814066" y="4359402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5.0%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3874770" y="4359402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6.0%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935474" y="4359402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5.0%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692658" y="4642866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Op. margin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1753362" y="4642866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18.3%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2814066" y="4642866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18.2%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874770" y="4642866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19.0%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4935474" y="4642866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20.0%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692658" y="4926330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FCF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1753362" y="4926330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$5.6B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2814066" y="4926330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$5.8B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3874770" y="4926330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$6.7B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4935474" y="4926330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$7.5B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92658" y="5209794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Diluted EPS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753362" y="5209794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$5.41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2814066" y="5209794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$5.48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3874770" y="5209794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$7.37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4935474" y="5209794"/>
            <a:ext cx="1046988" cy="269748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$10.74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400800" y="4160520"/>
            <a:ext cx="45720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Forecast assumes mid-single-digit growth and margin expansion as product investment improves conversion and mix.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Buybacks remain meaningful but step down after 2026 to leave room for reinvestment and balance-sheet flexibility.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Model forecast; PayPal 2025 Form 10-K and Q1 2026 earnings materials.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DCF valuation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16002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087"/>
                </a:solidFill>
              </a:rPr>
              <a:t>9.25%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563624"/>
            <a:ext cx="16002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Base WACC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16002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3087"/>
                </a:solidFill>
              </a:rPr>
              <a:t>2.5%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468880" y="1563624"/>
            <a:ext cx="16002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Terminal growth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4343400" y="1234440"/>
            <a:ext cx="16002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8F5A"/>
                </a:solidFill>
              </a:rPr>
              <a:t>$94/sh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43400" y="1563624"/>
            <a:ext cx="16002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Base DCF value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217920" y="1234440"/>
            <a:ext cx="1600200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</a:rPr>
              <a:t>$56/sh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17920" y="1563624"/>
            <a:ext cx="160020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D0D7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Current price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8138160" y="1298448"/>
            <a:ext cx="3017520" cy="438912"/>
          </a:xfrm>
          <a:prstGeom prst="rect">
            <a:avLst/>
          </a:prstGeom>
          <a:solidFill>
            <a:srgbClr val="ECFDF5"/>
          </a:solidFill>
          <a:ln>
            <a:solidFill>
              <a:srgbClr val="BBF7D0"/>
            </a:solidFill>
          </a:ln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8F5A"/>
                </a:solidFill>
              </a:rPr>
              <a:t>DCF supports buybacks, but valuation upside is most durable if core growth improves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92658" y="2338578"/>
            <a:ext cx="931164" cy="39014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B1F3A"/>
                </a:solidFill>
              </a:rPr>
              <a:t>TG / WACC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637538" y="2338578"/>
            <a:ext cx="931164" cy="39014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B1F3A"/>
                </a:solidFill>
              </a:rPr>
              <a:t>8.0%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582418" y="2338578"/>
            <a:ext cx="931164" cy="39014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B1F3A"/>
                </a:solidFill>
              </a:rPr>
              <a:t>8.5%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527298" y="2338578"/>
            <a:ext cx="931164" cy="39014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B1F3A"/>
                </a:solidFill>
              </a:rPr>
              <a:t>9.0%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472178" y="2338578"/>
            <a:ext cx="931164" cy="39014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B1F3A"/>
                </a:solidFill>
              </a:rPr>
              <a:t>9.5%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417058" y="2338578"/>
            <a:ext cx="931164" cy="39014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B1F3A"/>
                </a:solidFill>
              </a:rPr>
              <a:t>10.0%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92658" y="274243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1.5%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637538" y="274243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$97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582418" y="274243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$86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527298" y="274243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$77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472178" y="274243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$69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417058" y="274243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$62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92658" y="314629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2.0%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1637538" y="314629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$109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582418" y="314629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$95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527298" y="314629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$84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472178" y="314629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$75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5417058" y="314629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$67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92658" y="355015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2.5%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637538" y="355015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$124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2582418" y="355015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$106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3527298" y="355015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$93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472178" y="355015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$82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417058" y="355015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$73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92658" y="395401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3.0%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637538" y="395401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$145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2582418" y="395401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$121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527298" y="395401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$105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4472178" y="395401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$91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417058" y="395401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$80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692658" y="435787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3.5%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637538" y="435787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$177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2582418" y="435787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$143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3527298" y="435787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$121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472178" y="435787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$103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417058" y="4357878"/>
            <a:ext cx="931164" cy="39014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F2937"/>
                </a:solidFill>
              </a:rPr>
              <a:t>$89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6903720" y="2331720"/>
            <a:ext cx="1600200" cy="237744"/>
          </a:xfrm>
          <a:prstGeom prst="rect">
            <a:avLst/>
          </a:prstGeom>
          <a:solidFill>
            <a:srgbClr val="009CD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Valuation bridge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03720" y="28437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1F2937"/>
                </a:solidFill>
              </a:rPr>
              <a:t>PV FCF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229600" y="2825496"/>
            <a:ext cx="563563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607040" y="283464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</a:rPr>
              <a:t>$21B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903720" y="326669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1F2937"/>
                </a:solidFill>
              </a:rPr>
              <a:t>PV TV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229600" y="3248406"/>
            <a:ext cx="1669521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607040" y="325755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</a:rPr>
              <a:t>$63B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03720" y="368960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1F2937"/>
                </a:solidFill>
              </a:rPr>
              <a:t>Net cash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8229600" y="3671316"/>
            <a:ext cx="73152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607040" y="368046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</a:rPr>
              <a:t>$2B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03720" y="411251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1F2937"/>
                </a:solidFill>
              </a:rPr>
              <a:t>Equity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8229600" y="4094226"/>
            <a:ext cx="2286000" cy="2011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607040" y="410337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2937"/>
                </a:solidFill>
              </a:rPr>
              <a:t>$86B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03720" y="5029200"/>
            <a:ext cx="4206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</a:rPr>
              <a:t>Implied value is highly sensitive to terminal growth and margin assumptions, so product strategy matters more than short-term leverage changes.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Company filings; model assumptions.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Trading and precedent-transaction comparables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1218" y="1241298"/>
            <a:ext cx="1163574" cy="37817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Trading comps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778508" y="1241298"/>
            <a:ext cx="1163574" cy="37817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EV/Rev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955798" y="1241298"/>
            <a:ext cx="1163574" cy="37817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EV/EBITDA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4133088" y="1241298"/>
            <a:ext cx="1163574" cy="37817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P/E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01218" y="1633184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PayPal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1778508" y="1633184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1.5x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955798" y="1633184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6.6x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133088" y="1633184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10.5x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01218" y="2025069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Block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778508" y="2025069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1.6x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955798" y="2025069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8.5x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133088" y="2025069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18.0x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601218" y="2416955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Adyen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778508" y="2416955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5.6x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2955798" y="2416955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10.6x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133088" y="2416955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21.5x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01218" y="2808841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Fiserv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778508" y="2808841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2.7x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955798" y="2808841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6.6x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133088" y="2808841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8.6x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01218" y="3200727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Global Payments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778508" y="3200727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1.8x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955798" y="3200727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4.5x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133088" y="3200727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11.9x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01218" y="3592612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Median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778508" y="3592612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2.2x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2955798" y="3592612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6.6x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133088" y="3592612"/>
            <a:ext cx="1163574" cy="37817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15.0x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5721858" y="1241298"/>
            <a:ext cx="1845564" cy="44348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Precedent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7581138" y="1241298"/>
            <a:ext cx="1845564" cy="44348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Value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9440418" y="1241298"/>
            <a:ext cx="1845564" cy="443484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B1F3A"/>
                </a:solidFill>
              </a:rPr>
              <a:t>Rationale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721858" y="16984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PayPal / Honey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581138" y="16984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$4B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9440418" y="16984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Shopping rewards / checkout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721858" y="21556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Block / Afterpay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7581138" y="21556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$29B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9440418" y="21556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BNPL / commerce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5721858" y="26128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Visa / Pismo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581138" y="26128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$1B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9440418" y="26128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Issuer processing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5721858" y="30700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Fiserv / First Data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7581138" y="30700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$22B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9440418" y="30700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Merchant acquiring scale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5721858" y="35272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GPN / TSYS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7581138" y="35272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$21.5B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9440418" y="3527298"/>
            <a:ext cx="1845564" cy="443484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F2937"/>
                </a:solidFill>
              </a:rPr>
              <a:t>Issuer + acquiring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85800" y="4389120"/>
            <a:ext cx="1325880" cy="237744"/>
          </a:xfrm>
          <a:prstGeom prst="rect">
            <a:avLst/>
          </a:prstGeom>
          <a:solidFill>
            <a:srgbClr val="0B8F5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Read-through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" y="4800600"/>
            <a:ext cx="104241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70" dirty="0">
                <a:solidFill>
                  <a:srgbClr val="1F2937"/>
                </a:solidFill>
              </a:rPr>
              <a:t>PayPal trades at a discount to high-growth payment platforms, but closer to legacy payment processors.</a:t>
            </a:r>
            <a:endParaRPr lang="en-US" sz="1070" dirty="0"/>
          </a:p>
          <a:p>
            <a:pPr marL="127000" indent="-127000">
              <a:buSzPct val="100000"/>
              <a:buChar char="•"/>
            </a:pPr>
            <a:r>
              <a:rPr lang="en-US" sz="1070" dirty="0">
                <a:solidFill>
                  <a:srgbClr val="1F2937"/>
                </a:solidFill>
              </a:rPr>
              <a:t>Precedents show strategic assets can command large premiums; discipline is crucial because integration risk is high.</a:t>
            </a:r>
            <a:endParaRPr lang="en-US" sz="1070" dirty="0"/>
          </a:p>
          <a:p>
            <a:pPr marL="127000" indent="-127000">
              <a:buSzPct val="100000"/>
              <a:buChar char="•"/>
            </a:pPr>
            <a:r>
              <a:rPr lang="en-US" sz="1070" dirty="0">
                <a:solidFill>
                  <a:srgbClr val="1F2937"/>
                </a:solidFill>
              </a:rPr>
              <a:t>The multiple re-rating path depends on branded checkout stabilization and Venmo monetization more than deal size.</a:t>
            </a:r>
            <a:endParaRPr lang="en-US" sz="1070" dirty="0"/>
          </a:p>
        </p:txBody>
      </p:sp>
      <p:sp>
        <p:nvSpPr>
          <p:cNvPr id="53" name="Shape 5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Public market data, company announcements, transaction press releases; selected multiples illustrative.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Financing or acquisition alternatives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1218" y="1241298"/>
            <a:ext cx="1284732" cy="43434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Alternative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99666" y="1241298"/>
            <a:ext cx="1284732" cy="43434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2026E size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198114" y="1241298"/>
            <a:ext cx="1284732" cy="43434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Leverage 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96562" y="1241298"/>
            <a:ext cx="1284732" cy="43434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EPS impact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95010" y="1241298"/>
            <a:ext cx="1284732" cy="434340"/>
          </a:xfrm>
          <a:prstGeom prst="rect">
            <a:avLst/>
          </a:prstGeom>
          <a:solidFill>
            <a:srgbClr val="D9EAF7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Strategic score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1218" y="1689354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Share repurchases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99666" y="1689354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$6.0B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98114" y="1689354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Stable / net cash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96562" y="1689354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Accretive if undervalued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95010" y="1689354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4/5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1218" y="2137410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Debt reduction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99666" y="2137410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$1.5B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98114" y="2137410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Lower risk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96562" y="2137410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Mildly dilutive vs buybacks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95010" y="2137410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2/5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1218" y="2585466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Tuck-in acquisition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99666" y="2585466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$3.0B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98114" y="2585466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Adds debt / integration 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96562" y="2585466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Target-dependent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95010" y="2585466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3/5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1218" y="3033522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Venmo + checkout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99666" y="3033522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$1.0B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98114" y="3033522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Stable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96562" y="3033522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Near-term drag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95010" y="3033522"/>
            <a:ext cx="1284732" cy="434340"/>
          </a:xfrm>
          <a:prstGeom prst="rect">
            <a:avLst/>
          </a:prstGeom>
          <a:solidFill>
            <a:srgbClr val="FFFFFF"/>
          </a:solidFill>
          <a:ln w="5080">
            <a:solidFill>
              <a:srgbClr val="D0D7D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F2937"/>
                </a:solidFill>
              </a:rPr>
              <a:t>5/5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43800" y="1234440"/>
            <a:ext cx="2057400" cy="237744"/>
          </a:xfrm>
          <a:prstGeom prst="rect">
            <a:avLst/>
          </a:prstGeom>
          <a:solidFill>
            <a:srgbClr val="003087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Accretion / dilution message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543800" y="1691640"/>
            <a:ext cx="35204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</a:rPr>
              <a:t>Buybacks create the cleanest near-term EPS accretion.</a:t>
            </a:r>
            <a:endParaRPr lang="en-US" sz="980" dirty="0"/>
          </a:p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</a:rPr>
              <a:t>Debt paydown lowers risk, but the financial return is limited.</a:t>
            </a:r>
            <a:endParaRPr lang="en-US" sz="980" dirty="0"/>
          </a:p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</a:rPr>
              <a:t>A tuck-in acquisition must clear a high bar: synergy visibility, product fit, and valuation discipline.</a:t>
            </a:r>
            <a:endParaRPr lang="en-US" sz="980" dirty="0"/>
          </a:p>
          <a:p>
            <a:pPr marL="127000" indent="-127000"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</a:rPr>
              <a:t>Reinvestment is less accretive in year one, but has the strongest long-term multiple impact.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85800" y="40690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Strategic decision score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486400"/>
            <a:ext cx="429768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4754880"/>
            <a:ext cx="628650" cy="73152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" y="5550408"/>
            <a:ext cx="7749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Repurchase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057400" y="5120640"/>
            <a:ext cx="628650" cy="36576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984248" y="5550408"/>
            <a:ext cx="7749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Debt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200400" y="4937760"/>
            <a:ext cx="628650" cy="54864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27248" y="5550408"/>
            <a:ext cx="7749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M&amp;A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343400" y="4572000"/>
            <a:ext cx="628650" cy="914400"/>
          </a:xfrm>
          <a:prstGeom prst="rect">
            <a:avLst/>
          </a:prstGeom>
          <a:solidFill>
            <a:srgbClr val="0B8F5A"/>
          </a:solidFill>
          <a:ln w="12700">
            <a:solidFill>
              <a:srgbClr val="0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70248" y="5550408"/>
            <a:ext cx="7749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F2937"/>
                </a:solidFill>
              </a:rPr>
              <a:t>Invest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897880" y="4462272"/>
            <a:ext cx="50749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The recommendation is not anti-buyback: it is a sequencing decision. Fund the product priorities first, then return excess FCF while the stock is discounted.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Model financing and accretion/dilution analysis.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9CDE"/>
                </a:solidFill>
              </a:rPr>
              <a:t>PayPal Capital Allocation Review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F3A"/>
                </a:solidFill>
              </a:rPr>
              <a:t>Recommendation, risks and next steps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2788920" cy="237744"/>
          </a:xfrm>
          <a:prstGeom prst="rect">
            <a:avLst/>
          </a:prstGeom>
          <a:solidFill>
            <a:srgbClr val="0B8F5A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Recommended capital allocation order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1691640"/>
            <a:ext cx="292608" cy="292608"/>
          </a:xfrm>
          <a:prstGeom prst="rect">
            <a:avLst/>
          </a:prstGeom>
          <a:solidFill>
            <a:srgbClr val="0B8F5A"/>
          </a:solidFill>
          <a:ln>
            <a:solidFill>
              <a:srgbClr val="0B8F5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7190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1F2937"/>
                </a:solidFill>
              </a:rPr>
              <a:t>Increase investment in Venmo + branded checkout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713232" y="2350008"/>
            <a:ext cx="292608" cy="292608"/>
          </a:xfrm>
          <a:prstGeom prst="rect">
            <a:avLst/>
          </a:prstGeom>
          <a:solidFill>
            <a:srgbClr val="003087"/>
          </a:solidFill>
          <a:ln>
            <a:solidFill>
              <a:srgbClr val="00308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377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Continue valuation-sensitive share repurchases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713232" y="3008376"/>
            <a:ext cx="292608" cy="292608"/>
          </a:xfrm>
          <a:prstGeom prst="rect">
            <a:avLst/>
          </a:prstGeom>
          <a:solidFill>
            <a:srgbClr val="003087"/>
          </a:solidFill>
          <a:ln>
            <a:solidFill>
              <a:srgbClr val="00308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30358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Use selective debt reduction for maturity/rating flexibility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713232" y="3666744"/>
            <a:ext cx="292608" cy="292608"/>
          </a:xfrm>
          <a:prstGeom prst="rect">
            <a:avLst/>
          </a:prstGeom>
          <a:solidFill>
            <a:srgbClr val="003087"/>
          </a:solidFill>
          <a:ln>
            <a:solidFill>
              <a:srgbClr val="003087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36941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Pursue only disciplined strategic tuck-ins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6537960" y="1234440"/>
            <a:ext cx="1143000" cy="237744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Key risks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37960" y="1691640"/>
            <a:ext cx="46634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Branded checkout share loss or slower checkout adoption.</a:t>
            </a:r>
            <a:endParaRPr lang="en-US" sz="1060" dirty="0"/>
          </a:p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Venmo monetization falls short of engagement potential.</a:t>
            </a:r>
            <a:endParaRPr lang="en-US" sz="1060" dirty="0"/>
          </a:p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Regulatory, credit, fraud, or macro pressure on consumer payments.</a:t>
            </a:r>
            <a:endParaRPr lang="en-US" sz="1060" dirty="0"/>
          </a:p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M&amp;A integration risk or overpayment if acquisition route is expanded.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537960" y="3703320"/>
            <a:ext cx="1143000" cy="237744"/>
          </a:xfrm>
          <a:prstGeom prst="rect">
            <a:avLst/>
          </a:prstGeom>
          <a:solidFill>
            <a:srgbClr val="009CDE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Next steps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7960" y="4160520"/>
            <a:ext cx="46634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Refresh model after Q2 2026 results and update market multiples.</a:t>
            </a:r>
            <a:endParaRPr lang="en-US" sz="1060" dirty="0"/>
          </a:p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Build detailed segment bridge for branded checkout, Venmo, and PSP margins.</a:t>
            </a:r>
            <a:endParaRPr lang="en-US" sz="1060" dirty="0"/>
          </a:p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Diligence Venmo merchant use cases, rewards economics, and checkout conversion ROI.</a:t>
            </a:r>
            <a:endParaRPr lang="en-US" sz="1060" dirty="0"/>
          </a:p>
          <a:p>
            <a:pPr marL="127000" indent="-127000">
              <a:buSzPct val="100000"/>
              <a:buChar char="•"/>
            </a:pPr>
            <a:r>
              <a:rPr lang="en-US" sz="1060" dirty="0">
                <a:solidFill>
                  <a:srgbClr val="1F2937"/>
                </a:solidFill>
              </a:rPr>
              <a:t>Map near-term debt maturities and repurchase capacity under downside FCF cases.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85800" y="5074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B1F3A"/>
                </a:solidFill>
              </a:rPr>
              <a:t>Final view: invest for growth first, buy back stock second, keep the balance sheet flexible, and avoid large M&amp;A.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</a:rPr>
              <a:t>Source: Model analysis and management disclosure.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B7280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1284</Words>
  <Application>Microsoft Office PowerPoint</Application>
  <PresentationFormat>Widescreen</PresentationFormat>
  <Paragraphs>326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PayPal Capital Allocation Review</dc:title>
  <dc:subject>PayPal Capital Allocation Review</dc:subject>
  <dc:creator>OpenAI</dc:creator>
  <cp:lastModifiedBy>A S</cp:lastModifiedBy>
  <cp:revision>1</cp:revision>
  <dcterms:created xsi:type="dcterms:W3CDTF">2026-07-28T00:30:59Z</dcterms:created>
  <dcterms:modified xsi:type="dcterms:W3CDTF">2026-07-31T21:48:27Z</dcterms:modified>
</cp:coreProperties>
</file>